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0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1" r:id="rId7"/>
    <p:sldId id="260" r:id="rId8"/>
    <p:sldId id="262" r:id="rId9"/>
    <p:sldId id="265" r:id="rId10"/>
  </p:sldIdLst>
  <p:sldSz cx="12192000" cy="6858000"/>
  <p:notesSz cx="6858000" cy="9144000"/>
  <p:embeddedFontLst>
    <p:embeddedFont>
      <p:font typeface="Inter" panose="020B0600000101010101" charset="0"/>
      <p:regular r:id="rId12"/>
      <p:bold r:id="rId13"/>
      <p:italic r:id="rId14"/>
      <p:boldItalic r:id="rId15"/>
    </p:embeddedFont>
    <p:embeddedFont>
      <p:font typeface="Oswald" panose="00000500000000000000" pitchFamily="2" charset="0"/>
      <p:regular r:id="rId16"/>
      <p:bold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810" autoAdjust="0"/>
  </p:normalViewPr>
  <p:slideViewPr>
    <p:cSldViewPr snapToGrid="0">
      <p:cViewPr varScale="1">
        <p:scale>
          <a:sx n="63" d="100"/>
          <a:sy n="63" d="100"/>
        </p:scale>
        <p:origin x="1426" y="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3160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e15a5c13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ae15a5c13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BAF5A40-3BC4-F325-1C47-899710D8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B026554-31D5-E742-AD33-0D47EAB8E7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66CDE25-6EE7-6828-959E-75A64B59C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3889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666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387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799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118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485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7594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045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447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741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900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0108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3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MKVTr0sxg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5250" y="5436840"/>
            <a:ext cx="43815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305776" y="2865090"/>
            <a:ext cx="3580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latin typeface="Oswald"/>
                <a:ea typeface="Oswald"/>
                <a:cs typeface="Oswald"/>
                <a:sym typeface="Oswald"/>
              </a:rPr>
              <a:t>GPS</a:t>
            </a:r>
            <a:r>
              <a:rPr lang="en-US" sz="6000" b="1" dirty="0" err="1">
                <a:latin typeface="Oswald"/>
                <a:ea typeface="Oswald"/>
                <a:cs typeface="Oswald"/>
                <a:sym typeface="Oswald"/>
              </a:rPr>
              <a:t>음소거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875089" y="5636865"/>
            <a:ext cx="126672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latin typeface="Inter"/>
                <a:ea typeface="Inter"/>
                <a:cs typeface="Inter"/>
                <a:sym typeface="Inter"/>
              </a:rPr>
              <a:t>발표자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905250" y="5894040"/>
            <a:ext cx="1206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Inter"/>
                <a:ea typeface="Inter"/>
                <a:cs typeface="Inter"/>
                <a:sym typeface="Inter"/>
              </a:rPr>
              <a:t>한명규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462487" y="5636865"/>
            <a:ext cx="126687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latin typeface="Inter"/>
                <a:ea typeface="Inter"/>
                <a:cs typeface="Inter"/>
                <a:sym typeface="Inter"/>
              </a:rPr>
              <a:t>수강 과목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191049" y="5894040"/>
            <a:ext cx="18097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latin typeface="Inter"/>
                <a:ea typeface="Inter"/>
                <a:cs typeface="Inter"/>
                <a:sym typeface="Inter"/>
              </a:rPr>
              <a:t>모바일</a:t>
            </a:r>
            <a:r>
              <a:rPr lang="en-US" sz="1500" b="1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latin typeface="Inter"/>
                <a:ea typeface="Inter"/>
                <a:cs typeface="Inter"/>
                <a:sym typeface="Inter"/>
              </a:rPr>
              <a:t>프로그래밍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7050040" y="5636865"/>
            <a:ext cx="126672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latin typeface="Inter"/>
                <a:ea typeface="Inter"/>
                <a:cs typeface="Inter"/>
                <a:sym typeface="Inter"/>
              </a:rPr>
              <a:t>담당 교수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080200" y="5894040"/>
            <a:ext cx="1206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Inter"/>
                <a:ea typeface="Inter"/>
                <a:cs typeface="Inter"/>
                <a:sym typeface="Inter"/>
              </a:rPr>
              <a:t>전병국</a:t>
            </a:r>
            <a:r>
              <a:rPr lang="en-US" sz="1500" b="1" i="0" u="none" strike="noStrike" cap="none">
                <a:latin typeface="Inter"/>
                <a:ea typeface="Inter"/>
                <a:cs typeface="Inter"/>
                <a:sym typeface="Inter"/>
              </a:rPr>
              <a:t> 교수님</a:t>
            </a:r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050" y="1430075"/>
            <a:ext cx="18097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C78B4FF5-0A84-EBE9-D38D-FEC662BC92DC}"/>
              </a:ext>
            </a:extLst>
          </p:cNvPr>
          <p:cNvSpPr txBox="1"/>
          <p:nvPr/>
        </p:nvSpPr>
        <p:spPr>
          <a:xfrm>
            <a:off x="5111550" y="4391066"/>
            <a:ext cx="2324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dirty="0"/>
              <a:t>위치 기반 </a:t>
            </a:r>
            <a:r>
              <a:rPr lang="ko-KR" altLang="en-US" dirty="0" err="1"/>
              <a:t>음소거</a:t>
            </a:r>
            <a:r>
              <a:rPr lang="ko-KR" altLang="en-US" dirty="0"/>
              <a:t> 모드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87;p13"/>
          <p:cNvSpPr txBox="1"/>
          <p:nvPr/>
        </p:nvSpPr>
        <p:spPr>
          <a:xfrm>
            <a:off x="5923463" y="2473976"/>
            <a:ext cx="2324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2. </a:t>
            </a:r>
            <a:r>
              <a:rPr lang="ko-KR" altLang="en-US" dirty="0"/>
              <a:t>배경</a:t>
            </a:r>
            <a:endParaRPr dirty="0"/>
          </a:p>
        </p:txBody>
      </p:sp>
      <p:sp>
        <p:nvSpPr>
          <p:cNvPr id="17" name="Google Shape;87;p13"/>
          <p:cNvSpPr txBox="1"/>
          <p:nvPr/>
        </p:nvSpPr>
        <p:spPr>
          <a:xfrm>
            <a:off x="5923463" y="3505362"/>
            <a:ext cx="2324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3. </a:t>
            </a:r>
            <a:r>
              <a:rPr lang="ko-KR" altLang="en-US" dirty="0"/>
              <a:t>솔루션</a:t>
            </a:r>
            <a:endParaRPr dirty="0"/>
          </a:p>
        </p:txBody>
      </p:sp>
      <p:sp>
        <p:nvSpPr>
          <p:cNvPr id="18" name="Google Shape;87;p13"/>
          <p:cNvSpPr txBox="1"/>
          <p:nvPr/>
        </p:nvSpPr>
        <p:spPr>
          <a:xfrm>
            <a:off x="5923463" y="4667119"/>
            <a:ext cx="2324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4. </a:t>
            </a:r>
            <a:r>
              <a:rPr lang="ko-KR" altLang="en-US" dirty="0"/>
              <a:t>기술적 난관</a:t>
            </a:r>
            <a:endParaRPr dirty="0"/>
          </a:p>
        </p:txBody>
      </p:sp>
      <p:sp>
        <p:nvSpPr>
          <p:cNvPr id="19" name="Google Shape;87;p13"/>
          <p:cNvSpPr txBox="1"/>
          <p:nvPr/>
        </p:nvSpPr>
        <p:spPr>
          <a:xfrm>
            <a:off x="5923463" y="5760995"/>
            <a:ext cx="344968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5. </a:t>
            </a:r>
            <a:r>
              <a:rPr lang="ko-KR" altLang="en-US" dirty="0"/>
              <a:t>미해결 문제 개선 사항</a:t>
            </a:r>
            <a:endParaRPr dirty="0"/>
          </a:p>
        </p:txBody>
      </p:sp>
      <p:sp>
        <p:nvSpPr>
          <p:cNvPr id="21" name="Google Shape;117;p15"/>
          <p:cNvSpPr txBox="1"/>
          <p:nvPr/>
        </p:nvSpPr>
        <p:spPr>
          <a:xfrm>
            <a:off x="610500" y="405039"/>
            <a:ext cx="2266812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dirty="0">
                <a:latin typeface="Oswald"/>
                <a:ea typeface="Oswald"/>
                <a:cs typeface="Oswald"/>
                <a:sym typeface="Oswald"/>
              </a:rPr>
              <a:t>목 차</a:t>
            </a:r>
            <a:endParaRPr dirty="0"/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68B69F44-CD91-6F39-3B9D-B174D0D4AC70}"/>
              </a:ext>
            </a:extLst>
          </p:cNvPr>
          <p:cNvSpPr txBox="1"/>
          <p:nvPr/>
        </p:nvSpPr>
        <p:spPr>
          <a:xfrm>
            <a:off x="5923463" y="1380100"/>
            <a:ext cx="2324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1. </a:t>
            </a:r>
            <a:r>
              <a:rPr lang="ko-KR" altLang="en-US" dirty="0"/>
              <a:t>시연 영상</a:t>
            </a:r>
            <a:endParaRPr dirty="0"/>
          </a:p>
        </p:txBody>
      </p:sp>
      <p:sp>
        <p:nvSpPr>
          <p:cNvPr id="3" name="Google Shape;137;p16">
            <a:extLst>
              <a:ext uri="{FF2B5EF4-FFF2-40B4-BE49-F238E27FC236}">
                <a16:creationId xmlns:a16="http://schemas.microsoft.com/office/drawing/2014/main" id="{5FDD3150-486A-C31D-C0F2-AC18F0C3F098}"/>
              </a:ext>
            </a:extLst>
          </p:cNvPr>
          <p:cNvSpPr/>
          <p:nvPr/>
        </p:nvSpPr>
        <p:spPr>
          <a:xfrm>
            <a:off x="581025" y="1217921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91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/>
        </p:nvSpPr>
        <p:spPr>
          <a:xfrm>
            <a:off x="581025" y="2427175"/>
            <a:ext cx="8405525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u="sng" dirty="0">
                <a:hlinkClick r:id="rId3"/>
              </a:rPr>
              <a:t>https://youtu.be/SMKVTr0sxgM</a:t>
            </a:r>
            <a:endParaRPr sz="4600" dirty="0"/>
          </a:p>
        </p:txBody>
      </p:sp>
      <p:pic>
        <p:nvPicPr>
          <p:cNvPr id="102" name="Google Shape;102;p1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052" y="591037"/>
            <a:ext cx="2554425" cy="57140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7;p15"/>
          <p:cNvSpPr txBox="1"/>
          <p:nvPr/>
        </p:nvSpPr>
        <p:spPr>
          <a:xfrm>
            <a:off x="581025" y="646062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dirty="0">
                <a:latin typeface="Oswald"/>
                <a:ea typeface="Oswald"/>
                <a:cs typeface="Oswald"/>
                <a:sym typeface="Oswald"/>
              </a:rPr>
              <a:t>시연 영상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356693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2198637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latin typeface="Oswald"/>
                <a:ea typeface="Oswald"/>
                <a:cs typeface="Oswald"/>
                <a:sym typeface="Oswald"/>
              </a:rPr>
              <a:t>잦은 실수</a:t>
            </a:r>
            <a:endParaRPr sz="2100"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81025" y="405601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latin typeface="Oswald"/>
                <a:ea typeface="Oswald"/>
                <a:cs typeface="Oswald"/>
                <a:sym typeface="Oswald"/>
              </a:rPr>
              <a:t>번거로움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27882"/>
            <a:ext cx="5229225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 rotWithShape="1">
          <a:blip r:embed="rId5">
            <a:alphaModFix/>
          </a:blip>
          <a:srcRect t="13620" b="13620"/>
          <a:stretch/>
        </p:blipFill>
        <p:spPr>
          <a:xfrm>
            <a:off x="6391275" y="2366218"/>
            <a:ext cx="521017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284362"/>
            <a:ext cx="2762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141737"/>
            <a:ext cx="2762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81025" y="646062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latin typeface="Oswald"/>
                <a:ea typeface="Oswald"/>
                <a:cs typeface="Oswald"/>
                <a:sym typeface="Oswald"/>
              </a:rPr>
              <a:t>배경</a:t>
            </a:r>
            <a:r>
              <a:rPr lang="en-US" sz="3600" b="1" dirty="0">
                <a:latin typeface="Oswald"/>
                <a:ea typeface="Oswald"/>
                <a:cs typeface="Oswald"/>
                <a:sym typeface="Oswald"/>
              </a:rPr>
              <a:t> : </a:t>
            </a:r>
            <a:r>
              <a:rPr lang="en-US" sz="3600" b="1" i="0" u="none" strike="noStrike" cap="none" dirty="0" err="1">
                <a:latin typeface="Oswald"/>
                <a:ea typeface="Oswald"/>
                <a:cs typeface="Oswald"/>
                <a:sym typeface="Oswald"/>
              </a:rPr>
              <a:t>일상의</a:t>
            </a:r>
            <a:r>
              <a:rPr lang="en-US" sz="3600" b="1" i="0" u="none" strike="noStrike" cap="none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600" b="1" i="0" u="none" strike="noStrike" cap="none" dirty="0" err="1">
                <a:latin typeface="Oswald"/>
                <a:ea typeface="Oswald"/>
                <a:cs typeface="Oswald"/>
                <a:sym typeface="Oswald"/>
              </a:rPr>
              <a:t>불편함과</a:t>
            </a:r>
            <a:r>
              <a:rPr lang="en-US" sz="3600" b="1" i="0" u="none" strike="noStrike" cap="none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600" b="1" i="0" u="none" strike="noStrike" cap="none" dirty="0" err="1">
                <a:latin typeface="Oswald"/>
                <a:ea typeface="Oswald"/>
                <a:cs typeface="Oswald"/>
                <a:sym typeface="Oswald"/>
              </a:rPr>
              <a:t>실수</a:t>
            </a:r>
            <a:endParaRPr dirty="0"/>
          </a:p>
        </p:txBody>
      </p:sp>
      <p:sp>
        <p:nvSpPr>
          <p:cNvPr id="118" name="Google Shape;118;p15"/>
          <p:cNvSpPr/>
          <p:nvPr/>
        </p:nvSpPr>
        <p:spPr>
          <a:xfrm>
            <a:off x="581025" y="1531887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2406104"/>
            <a:ext cx="2543175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67800" y="2406104"/>
            <a:ext cx="2543175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81025" y="5720804"/>
            <a:ext cx="110299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모든</a:t>
            </a:r>
            <a:r>
              <a:rPr lang="en-US" sz="1200" b="0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모드에서</a:t>
            </a:r>
            <a:r>
              <a:rPr lang="en-US" sz="1200" b="0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기상</a:t>
            </a:r>
            <a:r>
              <a:rPr lang="en-US" sz="1200" b="0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알람</a:t>
            </a:r>
            <a:r>
              <a:rPr lang="en-US" sz="1200" b="0" i="0" u="none" strike="noStrike" cap="none" dirty="0">
                <a:latin typeface="Inter"/>
                <a:ea typeface="Inter"/>
                <a:cs typeface="Inter"/>
                <a:sym typeface="Inter"/>
              </a:rPr>
              <a:t>(Alarm)은 </a:t>
            </a:r>
            <a:r>
              <a:rPr lang="en-US" sz="12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절대</a:t>
            </a:r>
            <a:r>
              <a:rPr lang="en-US" sz="1200" b="0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끄지</a:t>
            </a:r>
            <a:r>
              <a:rPr lang="en-US" sz="1200" b="0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않습니다</a:t>
            </a:r>
            <a:r>
              <a:rPr lang="en-US" sz="1200" b="0" i="0" u="none" strike="noStrike" cap="none" dirty="0"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23267" y="57923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485334" y="4577804"/>
            <a:ext cx="2050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완전</a:t>
            </a:r>
            <a:r>
              <a:rPr lang="en-US" sz="2100" b="1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100" b="1" i="0" u="none" strike="noStrike" cap="none" dirty="0" err="1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무음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9314247" y="4671504"/>
            <a:ext cx="2050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진동</a:t>
            </a:r>
            <a:r>
              <a:rPr lang="en-US" sz="2100" b="1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100" b="1" i="0" u="none" strike="noStrike" cap="none" dirty="0" err="1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모드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485334" y="3434804"/>
            <a:ext cx="205025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미디어만</a:t>
            </a:r>
            <a:r>
              <a:rPr lang="en-US" sz="2100" b="1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100" b="1" i="0" u="none" strike="noStrike" cap="none" dirty="0" err="1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끄기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9314259" y="3434804"/>
            <a:ext cx="205025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벨소리만</a:t>
            </a:r>
            <a:r>
              <a:rPr lang="en-US" sz="2100" b="1" i="0" u="none" strike="noStrike" cap="none" dirty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100" b="1" i="0" u="none" strike="noStrike" cap="none" dirty="0" err="1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끄기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96150" y="399470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96525" y="4158704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96150" y="273947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101262" y="273947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81025" y="960387"/>
            <a:ext cx="1158144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latin typeface="Oswald"/>
                <a:ea typeface="Oswald"/>
                <a:cs typeface="Oswald"/>
                <a:sym typeface="Oswald"/>
              </a:rPr>
              <a:t>솔루션: 지오펜스 API 활용한 음소거 모드 4가지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81025" y="1846212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43482" y="2088832"/>
            <a:ext cx="2339433" cy="22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997848" y="4577794"/>
            <a:ext cx="4430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Oswald"/>
                <a:ea typeface="Oswald"/>
                <a:cs typeface="Oswald"/>
                <a:sym typeface="Oswald"/>
              </a:rPr>
              <a:t>사용자가 지정 경계에 진입시 이벤트 발생 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/>
        </p:nvSpPr>
        <p:spPr>
          <a:xfrm>
            <a:off x="4962525" y="3475732"/>
            <a:ext cx="6648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latin typeface="Inter"/>
                <a:ea typeface="Inter"/>
                <a:cs typeface="Inter"/>
                <a:sym typeface="Inter"/>
              </a:rPr>
              <a:t>앱이 강제 종료되거나 스마트폰이 재부팅되어도 사용자의 설정은 사라지지 않습니다.</a:t>
            </a:r>
            <a:endParaRPr/>
          </a:p>
        </p:txBody>
      </p:sp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2525" y="2947094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400675" y="2894707"/>
            <a:ext cx="227028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latin typeface="Oswald"/>
                <a:ea typeface="Oswald"/>
                <a:cs typeface="Oswald"/>
                <a:sym typeface="Oswald"/>
              </a:rPr>
              <a:t>AUTO SAVE &amp; LOAD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962525" y="4275832"/>
            <a:ext cx="6648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latin typeface="Inter"/>
                <a:ea typeface="Inter"/>
                <a:cs typeface="Inter"/>
                <a:sym typeface="Inter"/>
              </a:rPr>
              <a:t>SharedPreferences</a:t>
            </a:r>
            <a:r>
              <a:rPr lang="en-US" sz="1500" b="0" i="0" u="none" strike="noStrike" cap="none">
                <a:latin typeface="Inter"/>
                <a:ea typeface="Inter"/>
                <a:cs typeface="Inter"/>
                <a:sym typeface="Inter"/>
              </a:rPr>
              <a:t>를 활용한 설정 값 저장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962525" y="4723507"/>
            <a:ext cx="6648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진입</a:t>
            </a:r>
            <a:r>
              <a:rPr lang="en-US" sz="1500" b="0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직전</a:t>
            </a:r>
            <a:r>
              <a:rPr lang="en-US" sz="1500" b="0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볼륨</a:t>
            </a:r>
            <a:r>
              <a:rPr lang="en-US" sz="1500" b="0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상태</a:t>
            </a:r>
            <a:r>
              <a:rPr lang="en-US" sz="1500" b="1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latin typeface="Inter"/>
                <a:ea typeface="Inter"/>
                <a:cs typeface="Inter"/>
                <a:sym typeface="Inter"/>
              </a:rPr>
              <a:t>저장</a:t>
            </a:r>
            <a:endParaRPr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4962525" y="5171182"/>
            <a:ext cx="6648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구역</a:t>
            </a:r>
            <a:r>
              <a:rPr lang="en-US" sz="1500" b="0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이탈</a:t>
            </a:r>
            <a:r>
              <a:rPr lang="en-US" sz="1500" b="0" i="0" u="none" strike="noStrike" cap="none" dirty="0">
                <a:latin typeface="Inter"/>
                <a:ea typeface="Inter"/>
                <a:cs typeface="Inter"/>
                <a:sym typeface="Inter"/>
              </a:rPr>
              <a:t> 시 </a:t>
            </a:r>
            <a:r>
              <a:rPr lang="en-US" sz="15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원래</a:t>
            </a:r>
            <a:r>
              <a:rPr lang="en-US" sz="1500" b="0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상태로</a:t>
            </a:r>
            <a:r>
              <a:rPr lang="en-US" sz="1500" b="1" i="0" u="none" strike="noStrike" cap="none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latin typeface="Inter"/>
                <a:ea typeface="Inter"/>
                <a:cs typeface="Inter"/>
                <a:sym typeface="Inter"/>
              </a:rPr>
              <a:t>복원</a:t>
            </a:r>
            <a:endParaRPr dirty="0"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2525" y="432821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2525" y="477589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2525" y="5223569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81025" y="960387"/>
            <a:ext cx="1158144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latin typeface="Oswald"/>
                <a:ea typeface="Oswald"/>
                <a:cs typeface="Oswald"/>
                <a:sym typeface="Oswald"/>
              </a:rPr>
              <a:t>데이터 지속성 (PERSISTENCE)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81025" y="1846212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7375" y="2318425"/>
            <a:ext cx="3297825" cy="37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/>
          <p:nvPr/>
        </p:nvSpPr>
        <p:spPr>
          <a:xfrm>
            <a:off x="581024" y="960387"/>
            <a:ext cx="966533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latin typeface="Oswald"/>
                <a:ea typeface="Oswald"/>
                <a:cs typeface="Oswald"/>
                <a:sym typeface="Oswald"/>
              </a:rPr>
              <a:t>기술적</a:t>
            </a:r>
            <a:r>
              <a:rPr lang="en-US" sz="3600" b="1" i="0" u="none" strike="noStrike" cap="none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600" b="1" i="0" u="none" strike="noStrike" cap="none" dirty="0" err="1">
                <a:latin typeface="Oswald"/>
                <a:ea typeface="Oswald"/>
                <a:cs typeface="Oswald"/>
                <a:sym typeface="Oswald"/>
              </a:rPr>
              <a:t>난관</a:t>
            </a:r>
            <a:r>
              <a:rPr lang="en-US" sz="3600" b="1" i="0" u="none" strike="noStrike" cap="none" dirty="0">
                <a:latin typeface="Oswald"/>
                <a:ea typeface="Oswald"/>
                <a:cs typeface="Oswald"/>
                <a:sym typeface="Oswald"/>
              </a:rPr>
              <a:t>: </a:t>
            </a:r>
            <a:r>
              <a:rPr lang="en-US" sz="3600" b="1" dirty="0" err="1">
                <a:latin typeface="Oswald"/>
                <a:ea typeface="Oswald"/>
                <a:cs typeface="Oswald"/>
                <a:sym typeface="Oswald"/>
              </a:rPr>
              <a:t>지오펜스의</a:t>
            </a:r>
            <a:r>
              <a:rPr lang="en-US" sz="3600" b="1" i="0" u="none" strike="noStrike" cap="none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600" b="1" i="0" u="none" strike="noStrike" cap="none" dirty="0" err="1">
                <a:latin typeface="Oswald"/>
                <a:ea typeface="Oswald"/>
                <a:cs typeface="Oswald"/>
                <a:sym typeface="Oswald"/>
              </a:rPr>
              <a:t>백그라운드</a:t>
            </a:r>
            <a:r>
              <a:rPr lang="en-US" sz="3600" b="1" i="0" u="none" strike="noStrike" cap="none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600" b="1" i="0" u="none" strike="noStrike" cap="none" dirty="0" err="1">
                <a:latin typeface="Oswald"/>
                <a:ea typeface="Oswald"/>
                <a:cs typeface="Oswald"/>
                <a:sym typeface="Oswald"/>
              </a:rPr>
              <a:t>감지</a:t>
            </a:r>
            <a:endParaRPr dirty="0"/>
          </a:p>
        </p:txBody>
      </p:sp>
      <p:grpSp>
        <p:nvGrpSpPr>
          <p:cNvPr id="2" name="그룹 1"/>
          <p:cNvGrpSpPr/>
          <p:nvPr/>
        </p:nvGrpSpPr>
        <p:grpSpPr>
          <a:xfrm>
            <a:off x="581025" y="2536979"/>
            <a:ext cx="5190600" cy="1338739"/>
            <a:chOff x="581025" y="3379737"/>
            <a:chExt cx="5190600" cy="1338739"/>
          </a:xfrm>
        </p:grpSpPr>
        <p:sp>
          <p:nvSpPr>
            <p:cNvPr id="146" name="Google Shape;146;p17"/>
            <p:cNvSpPr txBox="1"/>
            <p:nvPr/>
          </p:nvSpPr>
          <p:spPr>
            <a:xfrm>
              <a:off x="581025" y="3379737"/>
              <a:ext cx="5190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 err="1">
                  <a:latin typeface="Oswald"/>
                  <a:ea typeface="Oswald"/>
                  <a:cs typeface="Oswald"/>
                  <a:sym typeface="Oswald"/>
                </a:rPr>
                <a:t>문제점</a:t>
              </a:r>
              <a:r>
                <a:rPr lang="en-US" sz="2100" b="1" i="0" u="none" strike="noStrike" cap="none" dirty="0">
                  <a:latin typeface="Oswald"/>
                  <a:ea typeface="Oswald"/>
                  <a:cs typeface="Oswald"/>
                  <a:sym typeface="Oswald"/>
                </a:rPr>
                <a:t>: </a:t>
              </a:r>
              <a:r>
                <a:rPr lang="en-US" sz="2100" b="1" i="0" u="none" strike="noStrike" cap="none" dirty="0" err="1">
                  <a:latin typeface="Oswald"/>
                  <a:ea typeface="Oswald"/>
                  <a:cs typeface="Oswald"/>
                  <a:sym typeface="Oswald"/>
                </a:rPr>
                <a:t>배터리</a:t>
              </a:r>
              <a:r>
                <a:rPr lang="en-US" sz="2100" b="1" i="0" u="none" strike="noStrike" cap="none" dirty="0">
                  <a:latin typeface="Oswald"/>
                  <a:ea typeface="Oswald"/>
                  <a:cs typeface="Oswald"/>
                  <a:sym typeface="Oswald"/>
                </a:rPr>
                <a:t> </a:t>
              </a:r>
              <a:r>
                <a:rPr lang="en-US" sz="2100" b="1" i="0" u="none" strike="noStrike" cap="none" dirty="0" err="1">
                  <a:latin typeface="Oswald"/>
                  <a:ea typeface="Oswald"/>
                  <a:cs typeface="Oswald"/>
                  <a:sym typeface="Oswald"/>
                </a:rPr>
                <a:t>최적화</a:t>
              </a:r>
              <a:r>
                <a:rPr lang="en-US" sz="2100" b="1" i="0" u="none" strike="noStrike" cap="none" dirty="0">
                  <a:latin typeface="Oswald"/>
                  <a:ea typeface="Oswald"/>
                  <a:cs typeface="Oswald"/>
                  <a:sym typeface="Oswald"/>
                </a:rPr>
                <a:t> </a:t>
              </a:r>
              <a:r>
                <a:rPr lang="en-US" sz="2100" b="1" dirty="0" err="1">
                  <a:latin typeface="Oswald"/>
                  <a:ea typeface="Oswald"/>
                  <a:cs typeface="Oswald"/>
                  <a:sym typeface="Oswald"/>
                </a:rPr>
                <a:t>정책</a:t>
              </a:r>
              <a:endParaRPr dirty="0"/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581025" y="3979812"/>
              <a:ext cx="4943475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안드로이드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OS의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정책으로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인해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화면이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꺼지면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위치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센서가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강제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종료되는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'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좀비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프로세스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'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현상이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발생합니다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581025" y="4443424"/>
            <a:ext cx="5190600" cy="1783284"/>
            <a:chOff x="5881200" y="3224224"/>
            <a:chExt cx="5190600" cy="1783284"/>
          </a:xfrm>
        </p:grpSpPr>
        <p:sp>
          <p:nvSpPr>
            <p:cNvPr id="148" name="Google Shape;148;p17"/>
            <p:cNvSpPr txBox="1"/>
            <p:nvPr/>
          </p:nvSpPr>
          <p:spPr>
            <a:xfrm>
              <a:off x="5881200" y="3224224"/>
              <a:ext cx="5190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 err="1">
                  <a:latin typeface="Oswald"/>
                  <a:ea typeface="Oswald"/>
                  <a:cs typeface="Oswald"/>
                  <a:sym typeface="Oswald"/>
                </a:rPr>
                <a:t>해결책</a:t>
              </a:r>
              <a:r>
                <a:rPr lang="en-US" sz="2100" b="1" i="0" u="none" strike="noStrike" cap="none" dirty="0">
                  <a:latin typeface="Oswald"/>
                  <a:ea typeface="Oswald"/>
                  <a:cs typeface="Oswald"/>
                  <a:sym typeface="Oswald"/>
                </a:rPr>
                <a:t>: FOREGROUND SERVICE</a:t>
              </a:r>
              <a:endParaRPr dirty="0"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5881200" y="3899512"/>
              <a:ext cx="494340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상단바에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1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고정</a:t>
              </a:r>
              <a:r>
                <a:rPr lang="en-US" sz="1500" b="1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1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알림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을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띄워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시스템에게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'이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앱은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현재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중요한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작업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중'임을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알립니다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.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이를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통해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24시간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끊김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없는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위치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감지를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500" b="0" i="0" u="none" strike="noStrike" cap="none" dirty="0" err="1">
                  <a:latin typeface="Inter"/>
                  <a:ea typeface="Inter"/>
                  <a:cs typeface="Inter"/>
                  <a:sym typeface="Inter"/>
                </a:rPr>
                <a:t>보장합니다</a:t>
              </a:r>
              <a:r>
                <a:rPr lang="en-US" sz="1500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dirty="0"/>
            </a:p>
          </p:txBody>
        </p:sp>
      </p:grpSp>
      <p:pic>
        <p:nvPicPr>
          <p:cNvPr id="150" name="Google Shape;15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065" y="3269775"/>
            <a:ext cx="6096000" cy="184893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6;p18"/>
          <p:cNvSpPr/>
          <p:nvPr/>
        </p:nvSpPr>
        <p:spPr>
          <a:xfrm>
            <a:off x="581025" y="1846212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1913516" y="447392"/>
            <a:ext cx="264927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latin typeface="Oswald"/>
                <a:ea typeface="Oswald"/>
                <a:cs typeface="Oswald"/>
                <a:sym typeface="Oswald"/>
              </a:rPr>
              <a:t>미해결</a:t>
            </a:r>
            <a:r>
              <a:rPr lang="en-US" sz="3600" b="1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600" b="1" dirty="0" err="1">
                <a:latin typeface="Oswald"/>
                <a:ea typeface="Oswald"/>
                <a:cs typeface="Oswald"/>
                <a:sym typeface="Oswald"/>
              </a:rPr>
              <a:t>문제</a:t>
            </a:r>
            <a:r>
              <a:rPr lang="en-US" sz="3600" b="1" dirty="0">
                <a:latin typeface="Oswald"/>
                <a:ea typeface="Oswald"/>
                <a:cs typeface="Oswald"/>
                <a:sym typeface="Oswald"/>
              </a:rPr>
              <a:t> 	</a:t>
            </a:r>
            <a:endParaRPr dirty="0"/>
          </a:p>
        </p:txBody>
      </p:sp>
      <p:sp>
        <p:nvSpPr>
          <p:cNvPr id="174" name="Google Shape;174;p19"/>
          <p:cNvSpPr/>
          <p:nvPr/>
        </p:nvSpPr>
        <p:spPr>
          <a:xfrm rot="5400000">
            <a:off x="2308514" y="3406141"/>
            <a:ext cx="6858002" cy="4571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6371590" y="1835630"/>
            <a:ext cx="31719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Oswald"/>
                <a:ea typeface="Oswald"/>
                <a:cs typeface="Oswald"/>
                <a:sym typeface="Oswald"/>
              </a:rPr>
              <a:t>WIFI 온/</a:t>
            </a:r>
            <a:r>
              <a:rPr lang="en-US" sz="2400" b="1" dirty="0" err="1">
                <a:latin typeface="Oswald"/>
                <a:ea typeface="Oswald"/>
                <a:cs typeface="Oswald"/>
                <a:sym typeface="Oswald"/>
              </a:rPr>
              <a:t>오프</a:t>
            </a:r>
            <a:r>
              <a:rPr lang="en-US" sz="2400" b="1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400" b="1" dirty="0" err="1">
                <a:latin typeface="Oswald"/>
                <a:ea typeface="Oswald"/>
                <a:cs typeface="Oswald"/>
                <a:sym typeface="Oswald"/>
              </a:rPr>
              <a:t>기능</a:t>
            </a:r>
            <a:r>
              <a:rPr lang="en-US" sz="2400" b="1" dirty="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400" b="1" dirty="0" err="1">
                <a:latin typeface="Oswald"/>
                <a:ea typeface="Oswald"/>
                <a:cs typeface="Oswald"/>
                <a:sym typeface="Oswald"/>
              </a:rPr>
              <a:t>추가</a:t>
            </a:r>
            <a:endParaRPr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286294" y="1835630"/>
            <a:ext cx="3968176" cy="1027373"/>
            <a:chOff x="235524" y="1957673"/>
            <a:chExt cx="6005255" cy="1027373"/>
          </a:xfrm>
        </p:grpSpPr>
        <p:sp>
          <p:nvSpPr>
            <p:cNvPr id="175" name="Google Shape;175;p19"/>
            <p:cNvSpPr txBox="1"/>
            <p:nvPr/>
          </p:nvSpPr>
          <p:spPr>
            <a:xfrm>
              <a:off x="235524" y="1957673"/>
              <a:ext cx="600525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 err="1">
                  <a:latin typeface="Oswald"/>
                  <a:ea typeface="Oswald"/>
                  <a:cs typeface="Oswald"/>
                  <a:sym typeface="Oswald"/>
                </a:rPr>
                <a:t>알림바</a:t>
              </a:r>
              <a:r>
                <a:rPr lang="en-US" sz="2400" b="1" dirty="0">
                  <a:latin typeface="Oswald"/>
                  <a:ea typeface="Oswald"/>
                  <a:cs typeface="Oswald"/>
                  <a:sym typeface="Oswald"/>
                </a:rPr>
                <a:t> </a:t>
              </a:r>
              <a:r>
                <a:rPr lang="en-US" sz="2400" b="1" dirty="0" err="1">
                  <a:latin typeface="Oswald"/>
                  <a:ea typeface="Oswald"/>
                  <a:cs typeface="Oswald"/>
                  <a:sym typeface="Oswald"/>
                </a:rPr>
                <a:t>없이</a:t>
              </a:r>
              <a:r>
                <a:rPr lang="en-US" sz="2400" b="1" dirty="0">
                  <a:latin typeface="Oswald"/>
                  <a:ea typeface="Oswald"/>
                  <a:cs typeface="Oswald"/>
                  <a:sym typeface="Oswald"/>
                </a:rPr>
                <a:t> </a:t>
              </a:r>
              <a:r>
                <a:rPr lang="en-US" sz="2400" b="1" dirty="0" err="1">
                  <a:latin typeface="Oswald"/>
                  <a:ea typeface="Oswald"/>
                  <a:cs typeface="Oswald"/>
                  <a:sym typeface="Oswald"/>
                </a:rPr>
                <a:t>백그라운드</a:t>
              </a:r>
              <a:r>
                <a:rPr lang="en-US" sz="2400" b="1" dirty="0">
                  <a:latin typeface="Oswald"/>
                  <a:ea typeface="Oswald"/>
                  <a:cs typeface="Oswald"/>
                  <a:sym typeface="Oswald"/>
                </a:rPr>
                <a:t> </a:t>
              </a:r>
              <a:r>
                <a:rPr lang="en-US" sz="2400" b="1" dirty="0" err="1">
                  <a:latin typeface="Oswald"/>
                  <a:ea typeface="Oswald"/>
                  <a:cs typeface="Oswald"/>
                  <a:sym typeface="Oswald"/>
                </a:rPr>
                <a:t>실행</a:t>
              </a:r>
              <a:endParaRPr sz="2400" dirty="0"/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235524" y="2615714"/>
              <a:ext cx="56781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 err="1">
                  <a:latin typeface="Oswald"/>
                  <a:ea typeface="Oswald"/>
                  <a:cs typeface="Oswald"/>
                  <a:sym typeface="Oswald"/>
                </a:rPr>
                <a:t>배터리</a:t>
              </a:r>
              <a:r>
                <a:rPr lang="en-US" sz="2400" b="1" dirty="0">
                  <a:latin typeface="Oswald"/>
                  <a:ea typeface="Oswald"/>
                  <a:cs typeface="Oswald"/>
                  <a:sym typeface="Oswald"/>
                </a:rPr>
                <a:t> </a:t>
              </a:r>
              <a:r>
                <a:rPr lang="en-US" sz="2400" b="1" dirty="0" err="1">
                  <a:latin typeface="Oswald"/>
                  <a:ea typeface="Oswald"/>
                  <a:cs typeface="Oswald"/>
                  <a:sym typeface="Oswald"/>
                </a:rPr>
                <a:t>최적화</a:t>
              </a:r>
              <a:endParaRPr sz="1200" dirty="0"/>
            </a:p>
          </p:txBody>
        </p:sp>
      </p:grpSp>
      <p:sp>
        <p:nvSpPr>
          <p:cNvPr id="11" name="Google Shape;173;p19"/>
          <p:cNvSpPr txBox="1"/>
          <p:nvPr/>
        </p:nvSpPr>
        <p:spPr>
          <a:xfrm>
            <a:off x="8210550" y="447392"/>
            <a:ext cx="2666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latin typeface="Oswald"/>
                <a:ea typeface="Oswald"/>
                <a:cs typeface="Oswald"/>
                <a:sym typeface="Oswald"/>
              </a:rPr>
              <a:t>개선사항</a:t>
            </a:r>
            <a:endParaRPr dirty="0"/>
          </a:p>
        </p:txBody>
      </p:sp>
      <p:sp>
        <p:nvSpPr>
          <p:cNvPr id="3" name="Google Shape;166;p18">
            <a:extLst>
              <a:ext uri="{FF2B5EF4-FFF2-40B4-BE49-F238E27FC236}">
                <a16:creationId xmlns:a16="http://schemas.microsoft.com/office/drawing/2014/main" id="{EB26722A-7536-D7C6-85C1-86E78EC846C0}"/>
              </a:ext>
            </a:extLst>
          </p:cNvPr>
          <p:cNvSpPr/>
          <p:nvPr/>
        </p:nvSpPr>
        <p:spPr>
          <a:xfrm>
            <a:off x="434721" y="1541559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7F82D22-6859-5C16-40A3-503EB69C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C5565F76-F332-46EE-46D2-304D7DE358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5250" y="5436840"/>
            <a:ext cx="43815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D38E5202-E58E-2287-8D31-5E35F36D8C3F}"/>
              </a:ext>
            </a:extLst>
          </p:cNvPr>
          <p:cNvSpPr txBox="1"/>
          <p:nvPr/>
        </p:nvSpPr>
        <p:spPr>
          <a:xfrm>
            <a:off x="4305776" y="2865090"/>
            <a:ext cx="3580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latin typeface="Oswald"/>
                <a:ea typeface="Oswald"/>
                <a:cs typeface="Oswald"/>
                <a:sym typeface="Oswald"/>
              </a:rPr>
              <a:t>GPS</a:t>
            </a:r>
            <a:r>
              <a:rPr lang="en-US" sz="6000" b="1" dirty="0" err="1">
                <a:latin typeface="Oswald"/>
                <a:ea typeface="Oswald"/>
                <a:cs typeface="Oswald"/>
                <a:sym typeface="Oswald"/>
              </a:rPr>
              <a:t>음소거</a:t>
            </a:r>
            <a:endParaRPr dirty="0"/>
          </a:p>
        </p:txBody>
      </p:sp>
      <p:pic>
        <p:nvPicPr>
          <p:cNvPr id="94" name="Google Shape;94;p13">
            <a:extLst>
              <a:ext uri="{FF2B5EF4-FFF2-40B4-BE49-F238E27FC236}">
                <a16:creationId xmlns:a16="http://schemas.microsoft.com/office/drawing/2014/main" id="{BD3EEA17-7627-CAAC-A2CA-68BD3F62D78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050" y="1430075"/>
            <a:ext cx="18097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88;p20">
            <a:extLst>
              <a:ext uri="{FF2B5EF4-FFF2-40B4-BE49-F238E27FC236}">
                <a16:creationId xmlns:a16="http://schemas.microsoft.com/office/drawing/2014/main" id="{6C26ECA1-D621-9EF4-BE73-7CC24B13FCBA}"/>
              </a:ext>
            </a:extLst>
          </p:cNvPr>
          <p:cNvSpPr txBox="1"/>
          <p:nvPr/>
        </p:nvSpPr>
        <p:spPr>
          <a:xfrm>
            <a:off x="4638673" y="5796213"/>
            <a:ext cx="11001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latin typeface="Oswald"/>
                <a:ea typeface="Oswald"/>
                <a:cs typeface="Oswald"/>
                <a:sym typeface="Oswald"/>
              </a:rPr>
              <a:t>Q &amp; A</a:t>
            </a:r>
            <a:endParaRPr dirty="0"/>
          </a:p>
        </p:txBody>
      </p:sp>
      <p:sp>
        <p:nvSpPr>
          <p:cNvPr id="5" name="Google Shape;187;p20">
            <a:extLst>
              <a:ext uri="{FF2B5EF4-FFF2-40B4-BE49-F238E27FC236}">
                <a16:creationId xmlns:a16="http://schemas.microsoft.com/office/drawing/2014/main" id="{90FEE38F-4D05-93FB-FF7F-7E45BCAA7A71}"/>
              </a:ext>
            </a:extLst>
          </p:cNvPr>
          <p:cNvSpPr txBox="1"/>
          <p:nvPr/>
        </p:nvSpPr>
        <p:spPr>
          <a:xfrm>
            <a:off x="6095924" y="5796212"/>
            <a:ext cx="13411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latin typeface="Inter"/>
                <a:ea typeface="Inter"/>
                <a:cs typeface="Inter"/>
                <a:sym typeface="Inter"/>
              </a:rPr>
              <a:t>감사합니다</a:t>
            </a:r>
            <a:r>
              <a:rPr lang="en-US" sz="1500" b="0" i="0" u="none" strike="noStrike" cap="none" dirty="0"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6" name="Google Shape;87;p13">
            <a:extLst>
              <a:ext uri="{FF2B5EF4-FFF2-40B4-BE49-F238E27FC236}">
                <a16:creationId xmlns:a16="http://schemas.microsoft.com/office/drawing/2014/main" id="{66637168-E2F2-E459-7376-51E0F99C3593}"/>
              </a:ext>
            </a:extLst>
          </p:cNvPr>
          <p:cNvSpPr txBox="1"/>
          <p:nvPr/>
        </p:nvSpPr>
        <p:spPr>
          <a:xfrm>
            <a:off x="5030267" y="4391066"/>
            <a:ext cx="2324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dirty="0"/>
              <a:t>공간을 배려하는 기술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8370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212</Words>
  <Application>Microsoft Office PowerPoint</Application>
  <PresentationFormat>와이드스크린</PresentationFormat>
  <Paragraphs>46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Calibri</vt:lpstr>
      <vt:lpstr>Oswald</vt:lpstr>
      <vt:lpstr>Arial</vt:lpstr>
      <vt:lpstr>Inter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MG H</cp:lastModifiedBy>
  <cp:revision>10</cp:revision>
  <dcterms:modified xsi:type="dcterms:W3CDTF">2025-12-22T18:38:39Z</dcterms:modified>
</cp:coreProperties>
</file>